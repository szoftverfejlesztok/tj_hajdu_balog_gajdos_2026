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189FD-2992-4661-889E-C42CA8481241}" v="20" dt="2026-05-01T09:47:19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7C77CB-399B-4A2B-A181-ABB762AC3F5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D3FC20D-A92B-4CB3-BC05-085D82265745}">
      <dgm:prSet/>
      <dgm:spPr/>
      <dgm:t>
        <a:bodyPr/>
        <a:lstStyle/>
        <a:p>
          <a:pPr algn="ctr"/>
          <a:r>
            <a:rPr lang="hu-HU" dirty="0"/>
            <a:t>Leltár rendszerek egyszerűbb használata</a:t>
          </a:r>
          <a:endParaRPr lang="en-US" dirty="0"/>
        </a:p>
      </dgm:t>
    </dgm:pt>
    <dgm:pt modelId="{EC9C2FC1-ACAE-4A60-B599-4CF48CB41E0F}" type="parTrans" cxnId="{36C5980F-E2AE-40FB-ABE5-24874381A8C7}">
      <dgm:prSet/>
      <dgm:spPr/>
      <dgm:t>
        <a:bodyPr/>
        <a:lstStyle/>
        <a:p>
          <a:endParaRPr lang="en-US"/>
        </a:p>
      </dgm:t>
    </dgm:pt>
    <dgm:pt modelId="{EFF2916F-C25F-4696-A9EA-5EE4AEFF7A3E}" type="sibTrans" cxnId="{36C5980F-E2AE-40FB-ABE5-24874381A8C7}">
      <dgm:prSet/>
      <dgm:spPr/>
      <dgm:t>
        <a:bodyPr/>
        <a:lstStyle/>
        <a:p>
          <a:endParaRPr lang="en-US"/>
        </a:p>
      </dgm:t>
    </dgm:pt>
    <dgm:pt modelId="{D08A7975-CEB1-4E79-AD7F-AD2554C90D5E}">
      <dgm:prSet/>
      <dgm:spPr/>
      <dgm:t>
        <a:bodyPr/>
        <a:lstStyle/>
        <a:p>
          <a:pPr algn="ctr"/>
          <a:r>
            <a:rPr lang="hu-HU" dirty="0"/>
            <a:t>Felhasználó barátabb rendszer </a:t>
          </a:r>
          <a:endParaRPr lang="en-US" dirty="0"/>
        </a:p>
      </dgm:t>
    </dgm:pt>
    <dgm:pt modelId="{8E3421BF-5137-4BC4-883E-96C13342093A}" type="parTrans" cxnId="{B7196696-70EE-40DF-B45D-6C2E2BE09EBC}">
      <dgm:prSet/>
      <dgm:spPr/>
      <dgm:t>
        <a:bodyPr/>
        <a:lstStyle/>
        <a:p>
          <a:endParaRPr lang="en-US"/>
        </a:p>
      </dgm:t>
    </dgm:pt>
    <dgm:pt modelId="{E6292731-520E-4BC1-A225-53892EA073B9}" type="sibTrans" cxnId="{B7196696-70EE-40DF-B45D-6C2E2BE09EBC}">
      <dgm:prSet/>
      <dgm:spPr/>
      <dgm:t>
        <a:bodyPr/>
        <a:lstStyle/>
        <a:p>
          <a:endParaRPr lang="en-US"/>
        </a:p>
      </dgm:t>
    </dgm:pt>
    <dgm:pt modelId="{3257A7F6-8CAE-4497-AFDA-900DE2D86641}">
      <dgm:prSet/>
      <dgm:spPr/>
      <dgm:t>
        <a:bodyPr/>
        <a:lstStyle/>
        <a:p>
          <a:pPr algn="ctr"/>
          <a:r>
            <a:rPr lang="hu-HU" dirty="0"/>
            <a:t>Átláthatóbb alkalmazás a leltárazásra</a:t>
          </a:r>
          <a:endParaRPr lang="en-US" dirty="0"/>
        </a:p>
      </dgm:t>
    </dgm:pt>
    <dgm:pt modelId="{7B06FE95-BCA1-4C83-9BBF-DE549F58D51D}" type="parTrans" cxnId="{F01409F5-BF96-438D-841C-339C70BCEDAC}">
      <dgm:prSet/>
      <dgm:spPr/>
      <dgm:t>
        <a:bodyPr/>
        <a:lstStyle/>
        <a:p>
          <a:endParaRPr lang="en-US"/>
        </a:p>
      </dgm:t>
    </dgm:pt>
    <dgm:pt modelId="{FDE72853-9E8A-4E56-A50D-517AF5ACBAD2}" type="sibTrans" cxnId="{F01409F5-BF96-438D-841C-339C70BCEDAC}">
      <dgm:prSet/>
      <dgm:spPr/>
      <dgm:t>
        <a:bodyPr/>
        <a:lstStyle/>
        <a:p>
          <a:endParaRPr lang="en-US"/>
        </a:p>
      </dgm:t>
    </dgm:pt>
    <dgm:pt modelId="{25ABA01E-9CF2-4B40-8C22-8C083C2FBADC}">
      <dgm:prSet/>
      <dgm:spPr/>
      <dgm:t>
        <a:bodyPr/>
        <a:lstStyle/>
        <a:p>
          <a:pPr algn="ctr"/>
          <a:r>
            <a:rPr lang="hu-HU" dirty="0"/>
            <a:t>Termékek megkülönböztetése csoportok szerint</a:t>
          </a:r>
          <a:endParaRPr lang="en-US" dirty="0"/>
        </a:p>
      </dgm:t>
    </dgm:pt>
    <dgm:pt modelId="{AC657762-8544-42DA-A578-AAE814986840}" type="parTrans" cxnId="{611D7720-F5E6-49D6-95AA-F99E60EF4419}">
      <dgm:prSet/>
      <dgm:spPr/>
      <dgm:t>
        <a:bodyPr/>
        <a:lstStyle/>
        <a:p>
          <a:endParaRPr lang="en-US"/>
        </a:p>
      </dgm:t>
    </dgm:pt>
    <dgm:pt modelId="{9E8B4C44-1F08-47E8-BCBA-743DC801EB39}" type="sibTrans" cxnId="{611D7720-F5E6-49D6-95AA-F99E60EF4419}">
      <dgm:prSet/>
      <dgm:spPr/>
      <dgm:t>
        <a:bodyPr/>
        <a:lstStyle/>
        <a:p>
          <a:endParaRPr lang="en-US"/>
        </a:p>
      </dgm:t>
    </dgm:pt>
    <dgm:pt modelId="{4E803DB8-2274-416C-AB69-C096F58ADED8}" type="pres">
      <dgm:prSet presAssocID="{587C77CB-399B-4A2B-A181-ABB762AC3F5F}" presName="linear" presStyleCnt="0">
        <dgm:presLayoutVars>
          <dgm:animLvl val="lvl"/>
          <dgm:resizeHandles val="exact"/>
        </dgm:presLayoutVars>
      </dgm:prSet>
      <dgm:spPr/>
    </dgm:pt>
    <dgm:pt modelId="{9A9DE9A0-6471-477E-B54F-0D0E77FCCD0F}" type="pres">
      <dgm:prSet presAssocID="{9D3FC20D-A92B-4CB3-BC05-085D8226574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47FF9F-7C1F-464A-A07E-FB790100FB55}" type="pres">
      <dgm:prSet presAssocID="{EFF2916F-C25F-4696-A9EA-5EE4AEFF7A3E}" presName="spacer" presStyleCnt="0"/>
      <dgm:spPr/>
    </dgm:pt>
    <dgm:pt modelId="{BB9E5F4B-D86F-45CF-8209-3EFE982BD88B}" type="pres">
      <dgm:prSet presAssocID="{D08A7975-CEB1-4E79-AD7F-AD2554C90D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5825E8-D747-4564-B171-5E193834DA60}" type="pres">
      <dgm:prSet presAssocID="{E6292731-520E-4BC1-A225-53892EA073B9}" presName="spacer" presStyleCnt="0"/>
      <dgm:spPr/>
    </dgm:pt>
    <dgm:pt modelId="{B74FB91B-F389-481A-BCB7-3A30E2DE541C}" type="pres">
      <dgm:prSet presAssocID="{3257A7F6-8CAE-4497-AFDA-900DE2D866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7DF2D26-602B-4DE6-8AF6-A1C1F9A15288}" type="pres">
      <dgm:prSet presAssocID="{FDE72853-9E8A-4E56-A50D-517AF5ACBAD2}" presName="spacer" presStyleCnt="0"/>
      <dgm:spPr/>
    </dgm:pt>
    <dgm:pt modelId="{E695C845-761C-4472-BEBC-2BF90BFFFAB9}" type="pres">
      <dgm:prSet presAssocID="{25ABA01E-9CF2-4B40-8C22-8C083C2FBAD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C5980F-E2AE-40FB-ABE5-24874381A8C7}" srcId="{587C77CB-399B-4A2B-A181-ABB762AC3F5F}" destId="{9D3FC20D-A92B-4CB3-BC05-085D82265745}" srcOrd="0" destOrd="0" parTransId="{EC9C2FC1-ACAE-4A60-B599-4CF48CB41E0F}" sibTransId="{EFF2916F-C25F-4696-A9EA-5EE4AEFF7A3E}"/>
    <dgm:cxn modelId="{B5CD6816-1B3D-4149-9B21-90FAE7CDB37B}" type="presOf" srcId="{25ABA01E-9CF2-4B40-8C22-8C083C2FBADC}" destId="{E695C845-761C-4472-BEBC-2BF90BFFFAB9}" srcOrd="0" destOrd="0" presId="urn:microsoft.com/office/officeart/2005/8/layout/vList2"/>
    <dgm:cxn modelId="{611D7720-F5E6-49D6-95AA-F99E60EF4419}" srcId="{587C77CB-399B-4A2B-A181-ABB762AC3F5F}" destId="{25ABA01E-9CF2-4B40-8C22-8C083C2FBADC}" srcOrd="3" destOrd="0" parTransId="{AC657762-8544-42DA-A578-AAE814986840}" sibTransId="{9E8B4C44-1F08-47E8-BCBA-743DC801EB39}"/>
    <dgm:cxn modelId="{B731F44A-DA1A-419B-950E-B77F85260B78}" type="presOf" srcId="{587C77CB-399B-4A2B-A181-ABB762AC3F5F}" destId="{4E803DB8-2274-416C-AB69-C096F58ADED8}" srcOrd="0" destOrd="0" presId="urn:microsoft.com/office/officeart/2005/8/layout/vList2"/>
    <dgm:cxn modelId="{57381F8A-6321-41D0-A261-C6A375EAC4B4}" type="presOf" srcId="{3257A7F6-8CAE-4497-AFDA-900DE2D86641}" destId="{B74FB91B-F389-481A-BCB7-3A30E2DE541C}" srcOrd="0" destOrd="0" presId="urn:microsoft.com/office/officeart/2005/8/layout/vList2"/>
    <dgm:cxn modelId="{B7196696-70EE-40DF-B45D-6C2E2BE09EBC}" srcId="{587C77CB-399B-4A2B-A181-ABB762AC3F5F}" destId="{D08A7975-CEB1-4E79-AD7F-AD2554C90D5E}" srcOrd="1" destOrd="0" parTransId="{8E3421BF-5137-4BC4-883E-96C13342093A}" sibTransId="{E6292731-520E-4BC1-A225-53892EA073B9}"/>
    <dgm:cxn modelId="{86923CDC-6561-4755-8A65-B9EC2FC5DADB}" type="presOf" srcId="{D08A7975-CEB1-4E79-AD7F-AD2554C90D5E}" destId="{BB9E5F4B-D86F-45CF-8209-3EFE982BD88B}" srcOrd="0" destOrd="0" presId="urn:microsoft.com/office/officeart/2005/8/layout/vList2"/>
    <dgm:cxn modelId="{F01409F5-BF96-438D-841C-339C70BCEDAC}" srcId="{587C77CB-399B-4A2B-A181-ABB762AC3F5F}" destId="{3257A7F6-8CAE-4497-AFDA-900DE2D86641}" srcOrd="2" destOrd="0" parTransId="{7B06FE95-BCA1-4C83-9BBF-DE549F58D51D}" sibTransId="{FDE72853-9E8A-4E56-A50D-517AF5ACBAD2}"/>
    <dgm:cxn modelId="{AF0CE3FF-B4E0-4F41-AE5E-D4560958A76F}" type="presOf" srcId="{9D3FC20D-A92B-4CB3-BC05-085D82265745}" destId="{9A9DE9A0-6471-477E-B54F-0D0E77FCCD0F}" srcOrd="0" destOrd="0" presId="urn:microsoft.com/office/officeart/2005/8/layout/vList2"/>
    <dgm:cxn modelId="{4AEE790F-BCAE-4DC1-81C6-E71E7DA1ACC9}" type="presParOf" srcId="{4E803DB8-2274-416C-AB69-C096F58ADED8}" destId="{9A9DE9A0-6471-477E-B54F-0D0E77FCCD0F}" srcOrd="0" destOrd="0" presId="urn:microsoft.com/office/officeart/2005/8/layout/vList2"/>
    <dgm:cxn modelId="{48102954-BD8E-4B66-9DF5-255825B734F2}" type="presParOf" srcId="{4E803DB8-2274-416C-AB69-C096F58ADED8}" destId="{8147FF9F-7C1F-464A-A07E-FB790100FB55}" srcOrd="1" destOrd="0" presId="urn:microsoft.com/office/officeart/2005/8/layout/vList2"/>
    <dgm:cxn modelId="{D8541E57-39A1-4819-876F-86384EAD7FC6}" type="presParOf" srcId="{4E803DB8-2274-416C-AB69-C096F58ADED8}" destId="{BB9E5F4B-D86F-45CF-8209-3EFE982BD88B}" srcOrd="2" destOrd="0" presId="urn:microsoft.com/office/officeart/2005/8/layout/vList2"/>
    <dgm:cxn modelId="{56E345DB-210E-438D-9CAA-F735B04C3EBA}" type="presParOf" srcId="{4E803DB8-2274-416C-AB69-C096F58ADED8}" destId="{F35825E8-D747-4564-B171-5E193834DA60}" srcOrd="3" destOrd="0" presId="urn:microsoft.com/office/officeart/2005/8/layout/vList2"/>
    <dgm:cxn modelId="{46D9548F-85DD-42B7-B6C9-83AA93CBFFC3}" type="presParOf" srcId="{4E803DB8-2274-416C-AB69-C096F58ADED8}" destId="{B74FB91B-F389-481A-BCB7-3A30E2DE541C}" srcOrd="4" destOrd="0" presId="urn:microsoft.com/office/officeart/2005/8/layout/vList2"/>
    <dgm:cxn modelId="{561AF7D9-D220-4D68-BAC5-4F2E5A3F68C7}" type="presParOf" srcId="{4E803DB8-2274-416C-AB69-C096F58ADED8}" destId="{87DF2D26-602B-4DE6-8AF6-A1C1F9A15288}" srcOrd="5" destOrd="0" presId="urn:microsoft.com/office/officeart/2005/8/layout/vList2"/>
    <dgm:cxn modelId="{E6AD1EEC-1D13-40C6-859B-85BBAFA98C99}" type="presParOf" srcId="{4E803DB8-2274-416C-AB69-C096F58ADED8}" destId="{E695C845-761C-4472-BEBC-2BF90BFFFAB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DE9A0-6471-477E-B54F-0D0E77FCCD0F}">
      <dsp:nvSpPr>
        <dsp:cNvPr id="0" name=""/>
        <dsp:cNvSpPr/>
      </dsp:nvSpPr>
      <dsp:spPr>
        <a:xfrm>
          <a:off x="0" y="37080"/>
          <a:ext cx="6669431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dirty="0"/>
            <a:t>Leltár rendszerek egyszerűbb használata</a:t>
          </a:r>
          <a:endParaRPr lang="en-US" sz="3400" kern="1200" dirty="0"/>
        </a:p>
      </dsp:txBody>
      <dsp:txXfrm>
        <a:off x="66025" y="103105"/>
        <a:ext cx="6537381" cy="1220470"/>
      </dsp:txXfrm>
    </dsp:sp>
    <dsp:sp modelId="{BB9E5F4B-D86F-45CF-8209-3EFE982BD88B}">
      <dsp:nvSpPr>
        <dsp:cNvPr id="0" name=""/>
        <dsp:cNvSpPr/>
      </dsp:nvSpPr>
      <dsp:spPr>
        <a:xfrm>
          <a:off x="0" y="1487520"/>
          <a:ext cx="6669431" cy="1352520"/>
        </a:xfrm>
        <a:prstGeom prst="roundRect">
          <a:avLst/>
        </a:prstGeom>
        <a:solidFill>
          <a:schemeClr val="accent2">
            <a:hueOff val="2014339"/>
            <a:satOff val="-6603"/>
            <a:lumOff val="-143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dirty="0"/>
            <a:t>Felhasználó barátabb rendszer </a:t>
          </a:r>
          <a:endParaRPr lang="en-US" sz="3400" kern="1200" dirty="0"/>
        </a:p>
      </dsp:txBody>
      <dsp:txXfrm>
        <a:off x="66025" y="1553545"/>
        <a:ext cx="6537381" cy="1220470"/>
      </dsp:txXfrm>
    </dsp:sp>
    <dsp:sp modelId="{B74FB91B-F389-481A-BCB7-3A30E2DE541C}">
      <dsp:nvSpPr>
        <dsp:cNvPr id="0" name=""/>
        <dsp:cNvSpPr/>
      </dsp:nvSpPr>
      <dsp:spPr>
        <a:xfrm>
          <a:off x="0" y="2937960"/>
          <a:ext cx="6669431" cy="1352520"/>
        </a:xfrm>
        <a:prstGeom prst="roundRect">
          <a:avLst/>
        </a:prstGeom>
        <a:solidFill>
          <a:schemeClr val="accent2">
            <a:hueOff val="4028678"/>
            <a:satOff val="-13207"/>
            <a:lumOff val="-28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dirty="0"/>
            <a:t>Átláthatóbb alkalmazás a leltárazásra</a:t>
          </a:r>
          <a:endParaRPr lang="en-US" sz="3400" kern="1200" dirty="0"/>
        </a:p>
      </dsp:txBody>
      <dsp:txXfrm>
        <a:off x="66025" y="3003985"/>
        <a:ext cx="6537381" cy="1220470"/>
      </dsp:txXfrm>
    </dsp:sp>
    <dsp:sp modelId="{E695C845-761C-4472-BEBC-2BF90BFFFAB9}">
      <dsp:nvSpPr>
        <dsp:cNvPr id="0" name=""/>
        <dsp:cNvSpPr/>
      </dsp:nvSpPr>
      <dsp:spPr>
        <a:xfrm>
          <a:off x="0" y="4388400"/>
          <a:ext cx="6669431" cy="1352520"/>
        </a:xfrm>
        <a:prstGeom prst="roundRect">
          <a:avLst/>
        </a:prstGeom>
        <a:solidFill>
          <a:schemeClr val="accent2">
            <a:hueOff val="6043017"/>
            <a:satOff val="-19810"/>
            <a:lumOff val="-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400" kern="1200" dirty="0"/>
            <a:t>Termékek megkülönböztetése csoportok szerint</a:t>
          </a:r>
          <a:endParaRPr lang="en-US" sz="3400" kern="1200" dirty="0"/>
        </a:p>
      </dsp:txBody>
      <dsp:txXfrm>
        <a:off x="66025" y="4454425"/>
        <a:ext cx="6537381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7367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9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68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3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1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37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3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1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04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084235" y="1007734"/>
            <a:ext cx="10023531" cy="430887"/>
          </a:xfrm>
        </p:spPr>
        <p:txBody>
          <a:bodyPr>
            <a:noAutofit/>
          </a:bodyPr>
          <a:lstStyle/>
          <a:p>
            <a:r>
              <a:rPr lang="hu-HU" sz="4400" dirty="0"/>
              <a:t>SQL WEB LELTÁR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079500" y="2333933"/>
            <a:ext cx="10026651" cy="109506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hu-HU" sz="2000" dirty="0"/>
              <a:t>Készítette: Balog Marcell, Gajdos Máté István, Hajdu Tamás Lajos</a:t>
            </a:r>
            <a:endParaRPr lang="hu-HU" sz="20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hu-HU" sz="2000"/>
              <a:t>Felkészítőtanár: Szabó Beatrix, Árgilán Viktor, Tóth Attila</a:t>
            </a:r>
            <a:endParaRPr lang="hu-HU" sz="2000" dirty="0">
              <a:solidFill>
                <a:srgbClr val="FFFFFF">
                  <a:alpha val="70000"/>
                </a:srgb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1911592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Kép 3" descr="A képen embléma, szimbólum, jelvény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D46D021C-FEB8-3E74-B82B-3B6AF3E4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757" y="4090769"/>
            <a:ext cx="1634486" cy="175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EF9865E-F55D-9618-86F0-30E3FFC8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9500"/>
            <a:ext cx="4425950" cy="4689475"/>
          </a:xfrm>
        </p:spPr>
        <p:txBody>
          <a:bodyPr anchor="ctr">
            <a:normAutofit/>
          </a:bodyPr>
          <a:lstStyle/>
          <a:p>
            <a:pPr algn="ctr"/>
            <a:r>
              <a:rPr lang="hu-HU" sz="3600" dirty="0"/>
              <a:t>Témafelvetés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6" name="Tartalom helye 2">
            <a:extLst>
              <a:ext uri="{FF2B5EF4-FFF2-40B4-BE49-F238E27FC236}">
                <a16:creationId xmlns:a16="http://schemas.microsoft.com/office/drawing/2014/main" id="{230528A9-7C30-E853-6F17-6D509E1357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9356894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375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8405D9DD-4278-42A3-614B-7528523227D3}"/>
              </a:ext>
            </a:extLst>
          </p:cNvPr>
          <p:cNvSpPr/>
          <p:nvPr/>
        </p:nvSpPr>
        <p:spPr>
          <a:xfrm>
            <a:off x="7627971" y="1342681"/>
            <a:ext cx="3779921" cy="3709736"/>
          </a:xfrm>
          <a:prstGeom prst="flowChartConnector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olyamatábra: Bekötés 4">
            <a:extLst>
              <a:ext uri="{FF2B5EF4-FFF2-40B4-BE49-F238E27FC236}">
                <a16:creationId xmlns:a16="http://schemas.microsoft.com/office/drawing/2014/main" id="{D8A89BBB-1C25-2F33-675E-CB2757B8C2B7}"/>
              </a:ext>
            </a:extLst>
          </p:cNvPr>
          <p:cNvSpPr/>
          <p:nvPr/>
        </p:nvSpPr>
        <p:spPr>
          <a:xfrm>
            <a:off x="730712" y="1342681"/>
            <a:ext cx="3779921" cy="3709736"/>
          </a:xfrm>
          <a:prstGeom prst="flowChartConnector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9D40006-188F-C0FC-6CA6-20E5B2B0E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30877"/>
            <a:ext cx="10026650" cy="655637"/>
          </a:xfrm>
        </p:spPr>
        <p:txBody>
          <a:bodyPr>
            <a:normAutofit/>
          </a:bodyPr>
          <a:lstStyle/>
          <a:p>
            <a:pPr algn="ctr"/>
            <a:r>
              <a:rPr lang="hu-HU" sz="3600" dirty="0"/>
              <a:t>Szoftver felépítése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51E2A1-17F2-1AC6-D17D-514CC828C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9440" y="1799881"/>
            <a:ext cx="3822078" cy="39782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3200">
                <a:solidFill>
                  <a:srgbClr val="FFFFFF">
                    <a:alpha val="70000"/>
                  </a:srgbClr>
                </a:solidFill>
              </a:rPr>
              <a:t>Admin</a:t>
            </a:r>
          </a:p>
          <a:p>
            <a:pPr marL="359410" indent="-359410" algn="ctr"/>
            <a:r>
              <a:rPr lang="hu-HU">
                <a:solidFill>
                  <a:srgbClr val="FFFFFF">
                    <a:alpha val="70000"/>
                  </a:srgbClr>
                </a:solidFill>
              </a:rPr>
              <a:t>Felhasználó hozzáadása és kezelése</a:t>
            </a:r>
          </a:p>
          <a:p>
            <a:pPr marL="359410" indent="-359410" algn="ctr">
              <a:buClr>
                <a:srgbClr val="EF8C6A"/>
              </a:buClr>
            </a:pPr>
            <a:r>
              <a:rPr lang="hu-HU">
                <a:solidFill>
                  <a:srgbClr val="FFFFFF">
                    <a:alpha val="70000"/>
                  </a:srgbClr>
                </a:solidFill>
              </a:rPr>
              <a:t>Weboldal és adatbázis fejlesztése</a:t>
            </a:r>
          </a:p>
          <a:p>
            <a:pPr marL="359410" indent="-359410" algn="ctr">
              <a:buClr>
                <a:srgbClr val="EF8C6A"/>
              </a:buClr>
            </a:pPr>
            <a:endParaRPr lang="hu-HU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ctr">
              <a:buClr>
                <a:srgbClr val="EF8C6A"/>
              </a:buClr>
            </a:pPr>
            <a:endParaRPr lang="hu-HU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ctr">
              <a:buClr>
                <a:srgbClr val="EF8C6A"/>
              </a:buClr>
            </a:pPr>
            <a:endParaRPr lang="hu-HU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DDD0CEB-4E9C-F464-AA84-2EA0995CA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3760" y="1799881"/>
            <a:ext cx="3822078" cy="39782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3200">
                <a:solidFill>
                  <a:srgbClr val="FFFFFF">
                    <a:alpha val="70000"/>
                  </a:srgbClr>
                </a:solidFill>
              </a:rPr>
              <a:t>Dolgozó</a:t>
            </a:r>
          </a:p>
          <a:p>
            <a:pPr marL="359410" indent="-359410" algn="ctr"/>
            <a:r>
              <a:rPr lang="hu-HU" sz="1800">
                <a:solidFill>
                  <a:srgbClr val="FFFFFF">
                    <a:alpha val="70000"/>
                  </a:srgbClr>
                </a:solidFill>
              </a:rPr>
              <a:t>Áru felvétele, ellenőrzése és törlése</a:t>
            </a:r>
          </a:p>
          <a:p>
            <a:pPr marL="359410" indent="-359410" algn="ctr">
              <a:buClr>
                <a:srgbClr val="EF8C6A"/>
              </a:buClr>
            </a:pPr>
            <a:r>
              <a:rPr lang="hu-HU" sz="1800">
                <a:solidFill>
                  <a:srgbClr val="FFFFFF">
                    <a:alpha val="70000"/>
                  </a:srgbClr>
                </a:solidFill>
              </a:rPr>
              <a:t>Áru keresése és szűrése</a:t>
            </a:r>
          </a:p>
          <a:p>
            <a:pPr marL="359410" indent="-359410" algn="ctr">
              <a:buClr>
                <a:srgbClr val="EF8C6A"/>
              </a:buClr>
            </a:pPr>
            <a:r>
              <a:rPr lang="hu-HU" sz="1800">
                <a:solidFill>
                  <a:srgbClr val="FFFFFF">
                    <a:alpha val="70000"/>
                  </a:srgbClr>
                </a:solidFill>
              </a:rPr>
              <a:t>Áru adatainak módosítása</a:t>
            </a:r>
          </a:p>
        </p:txBody>
      </p:sp>
      <p:sp>
        <p:nvSpPr>
          <p:cNvPr id="7" name="Nyíl: balra mutató 6">
            <a:extLst>
              <a:ext uri="{FF2B5EF4-FFF2-40B4-BE49-F238E27FC236}">
                <a16:creationId xmlns:a16="http://schemas.microsoft.com/office/drawing/2014/main" id="{0C5B3781-89F9-1450-5B33-5D3ACFA06BB2}"/>
              </a:ext>
            </a:extLst>
          </p:cNvPr>
          <p:cNvSpPr/>
          <p:nvPr/>
        </p:nvSpPr>
        <p:spPr>
          <a:xfrm rot="18900000">
            <a:off x="3923188" y="1047086"/>
            <a:ext cx="1513973" cy="792078"/>
          </a:xfrm>
          <a:prstGeom prst="leftArrow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Nyíl: balra mutató 7">
            <a:extLst>
              <a:ext uri="{FF2B5EF4-FFF2-40B4-BE49-F238E27FC236}">
                <a16:creationId xmlns:a16="http://schemas.microsoft.com/office/drawing/2014/main" id="{785F67DB-A027-A5DA-4CF9-415A6E2CA8AB}"/>
              </a:ext>
            </a:extLst>
          </p:cNvPr>
          <p:cNvSpPr/>
          <p:nvPr/>
        </p:nvSpPr>
        <p:spPr>
          <a:xfrm rot="13440000">
            <a:off x="6714127" y="1047086"/>
            <a:ext cx="1513973" cy="792078"/>
          </a:xfrm>
          <a:prstGeom prst="leftArrow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26" name="Picture 2" descr="A képen üdítőital, Vegyesbolt, árusító automata, ajtó látható&#10;&#10;Lehet, hogy az AI által létrehozott tartalom helytelen.">
            <a:extLst>
              <a:ext uri="{FF2B5EF4-FFF2-40B4-BE49-F238E27FC236}">
                <a16:creationId xmlns:a16="http://schemas.microsoft.com/office/drawing/2014/main" id="{EA701EE3-ACD1-50C9-CBD3-B21B867F8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20357" r="20357"/>
          <a:stretch>
            <a:fillRect/>
          </a:stretch>
        </p:blipFill>
        <p:spPr bwMode="auto">
          <a:xfrm>
            <a:off x="4564030" y="3395886"/>
            <a:ext cx="3405688" cy="323123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08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1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C0F1118-8B24-38F6-1043-1FD8DBD2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00"/>
            <a:ext cx="3345950" cy="2303213"/>
          </a:xfrm>
        </p:spPr>
        <p:txBody>
          <a:bodyPr anchor="ctr">
            <a:normAutofit/>
          </a:bodyPr>
          <a:lstStyle/>
          <a:p>
            <a:pPr algn="ctr"/>
            <a:r>
              <a:rPr lang="hu-HU" err="1"/>
              <a:t>CéLkitűzés</a:t>
            </a:r>
            <a:endParaRPr lang="hu-HU"/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853127-C5A3-A7DB-6742-F118CF7F9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097" y="1128818"/>
            <a:ext cx="6107460" cy="2303213"/>
          </a:xfrm>
        </p:spPr>
        <p:txBody>
          <a:bodyPr anchor="ctr">
            <a:normAutofit/>
          </a:bodyPr>
          <a:lstStyle/>
          <a:p>
            <a:pPr marL="359410" indent="-359410">
              <a:lnSpc>
                <a:spcPct val="115000"/>
              </a:lnSpc>
            </a:pPr>
            <a:r>
              <a:rPr lang="hu-HU" sz="1900" dirty="0">
                <a:ea typeface="+mn-lt"/>
                <a:cs typeface="+mn-lt"/>
              </a:rPr>
              <a:t>Modern, SQL alapú webalkalmazás létrehozása a készletadatok hatékony kezelésére.</a:t>
            </a:r>
            <a:endParaRPr lang="hu-HU" sz="1900">
              <a:ea typeface="+mn-lt"/>
              <a:cs typeface="+mn-lt"/>
            </a:endParaRPr>
          </a:p>
          <a:p>
            <a:pPr marL="359410" indent="-359410">
              <a:lnSpc>
                <a:spcPct val="115000"/>
              </a:lnSpc>
              <a:buClr>
                <a:srgbClr val="EF8C6A"/>
              </a:buClr>
            </a:pPr>
            <a:r>
              <a:rPr lang="hu-HU" sz="1900" dirty="0">
                <a:ea typeface="+mn-lt"/>
                <a:cs typeface="+mn-lt"/>
              </a:rPr>
              <a:t>A felhasználói szerepkörök és az adatbiztonság strukturált, megbízható kezelése.</a:t>
            </a:r>
            <a:endParaRPr lang="hu-HU" sz="1900"/>
          </a:p>
          <a:p>
            <a:pPr marL="359410" indent="-359410">
              <a:lnSpc>
                <a:spcPct val="115000"/>
              </a:lnSpc>
              <a:buClr>
                <a:srgbClr val="EF8C6A"/>
              </a:buClr>
            </a:pPr>
            <a:r>
              <a:rPr lang="hu-HU" sz="1900" dirty="0">
                <a:ea typeface="+mn-lt"/>
                <a:cs typeface="+mn-lt"/>
              </a:rPr>
              <a:t>Átlátható webes felület biztosítása a gyors adatbevitelhez és lekérdezés</a:t>
            </a:r>
            <a:endParaRPr lang="hu-HU" sz="1900"/>
          </a:p>
          <a:p>
            <a:pPr marL="359410" indent="-359410">
              <a:lnSpc>
                <a:spcPct val="115000"/>
              </a:lnSpc>
              <a:buClr>
                <a:srgbClr val="EF8C6A"/>
              </a:buClr>
            </a:pPr>
            <a:endParaRPr lang="hu-HU" sz="1900" dirty="0"/>
          </a:p>
          <a:p>
            <a:pPr marL="359410" indent="-359410">
              <a:lnSpc>
                <a:spcPct val="115000"/>
              </a:lnSpc>
              <a:buClr>
                <a:srgbClr val="EF8C6A"/>
              </a:buClr>
            </a:pPr>
            <a:endParaRPr lang="hu-HU" sz="1900" dirty="0"/>
          </a:p>
        </p:txBody>
      </p:sp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4AD52C5F-F278-4082-B0E5-5FDE4B8E2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8999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7" name="Kép 6" descr="A képen bolt, Kiskereskedelem, helyszín, Vegyesbolt látható&#10;&#10;Lehet, hogy az AI által létrehozott tartalom helytelen.">
            <a:extLst>
              <a:ext uri="{FF2B5EF4-FFF2-40B4-BE49-F238E27FC236}">
                <a16:creationId xmlns:a16="http://schemas.microsoft.com/office/drawing/2014/main" id="{05419111-0E65-A75B-DB8D-E161F36F5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69" y="3693581"/>
            <a:ext cx="1686520" cy="2912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Kép 5" descr="A képen bolt, Polcok, fedett pályás, Kiskereskedelem látható&#10;&#10;Lehet, hogy az AI által létrehozott tartalom helytelen.">
            <a:extLst>
              <a:ext uri="{FF2B5EF4-FFF2-40B4-BE49-F238E27FC236}">
                <a16:creationId xmlns:a16="http://schemas.microsoft.com/office/drawing/2014/main" id="{2CB4CDB5-8216-CEB3-0A5D-5544D96DB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460" y="3693581"/>
            <a:ext cx="1674975" cy="2912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Kép 7" descr="A képen Vegyesbolt, Kiskereskedelem, szupermarket, Élelmiszerbolt látható&#10;&#10;Lehet, hogy az AI által létrehozott tartalom helytelen.">
            <a:extLst>
              <a:ext uri="{FF2B5EF4-FFF2-40B4-BE49-F238E27FC236}">
                <a16:creationId xmlns:a16="http://schemas.microsoft.com/office/drawing/2014/main" id="{A5037FD0-F933-00F9-E986-F3A335FD6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8643" y="3693581"/>
            <a:ext cx="1651884" cy="2912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923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970955F-05C1-FABB-C3AC-FF6DA7CC9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88" y="540033"/>
            <a:ext cx="3884962" cy="1331604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/>
              <a:t>Következtetés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346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9ED3A24-C807-C9A9-A088-80275917E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988" y="2759076"/>
            <a:ext cx="3884962" cy="3009899"/>
          </a:xfrm>
        </p:spPr>
        <p:txBody>
          <a:bodyPr vert="horz" lIns="0" tIns="0" rIns="0" bIns="0" rtlCol="0" anchor="t" anchorCtr="0">
            <a:normAutofit/>
          </a:bodyPr>
          <a:lstStyle/>
          <a:p>
            <a:pPr marL="342900" indent="-342900" algn="just">
              <a:lnSpc>
                <a:spcPct val="115000"/>
              </a:lnSpc>
              <a:buFont typeface="Arial" panose="05000000000000000000" pitchFamily="2" charset="2"/>
              <a:buChar char="•"/>
            </a:pPr>
            <a:r>
              <a:rPr lang="en-US" sz="1900" dirty="0"/>
              <a:t>A </a:t>
            </a:r>
            <a:r>
              <a:rPr lang="en-US" sz="1900" dirty="0" err="1"/>
              <a:t>dolgozók</a:t>
            </a:r>
            <a:r>
              <a:rPr lang="en-US" sz="1900" dirty="0"/>
              <a:t> </a:t>
            </a:r>
            <a:r>
              <a:rPr lang="en-US" sz="1900" dirty="0" err="1"/>
              <a:t>számára</a:t>
            </a:r>
            <a:r>
              <a:rPr lang="en-US" sz="1900" dirty="0"/>
              <a:t> </a:t>
            </a:r>
            <a:r>
              <a:rPr lang="en-US" sz="1900" dirty="0" err="1"/>
              <a:t>gyorsabbá</a:t>
            </a:r>
            <a:r>
              <a:rPr lang="en-US" sz="1900" dirty="0"/>
              <a:t> </a:t>
            </a:r>
            <a:r>
              <a:rPr lang="en-US" sz="1900" dirty="0" err="1"/>
              <a:t>és</a:t>
            </a:r>
            <a:r>
              <a:rPr lang="en-US" sz="1900" dirty="0"/>
              <a:t> </a:t>
            </a:r>
            <a:r>
              <a:rPr lang="en-US" sz="1900" dirty="0" err="1"/>
              <a:t>átláthatóbbá</a:t>
            </a:r>
            <a:r>
              <a:rPr lang="en-US" sz="1900" dirty="0"/>
              <a:t> </a:t>
            </a:r>
            <a:r>
              <a:rPr lang="en-US" sz="1900" dirty="0" err="1"/>
              <a:t>válik</a:t>
            </a:r>
            <a:r>
              <a:rPr lang="en-US" sz="1900" dirty="0"/>
              <a:t> a </a:t>
            </a:r>
            <a:r>
              <a:rPr lang="en-US" sz="1900" dirty="0" err="1"/>
              <a:t>leltározási</a:t>
            </a:r>
            <a:r>
              <a:rPr lang="en-US" sz="1900" dirty="0"/>
              <a:t> </a:t>
            </a:r>
            <a:r>
              <a:rPr lang="en-US" sz="1900" dirty="0" err="1"/>
              <a:t>folyamat</a:t>
            </a:r>
            <a:r>
              <a:rPr lang="en-US" sz="1900" dirty="0"/>
              <a:t>.</a:t>
            </a:r>
          </a:p>
          <a:p>
            <a:pPr marL="342900" indent="-342900" algn="just">
              <a:lnSpc>
                <a:spcPct val="115000"/>
              </a:lnSpc>
              <a:buFont typeface="Arial" panose="05000000000000000000" pitchFamily="2" charset="2"/>
              <a:buChar char="•"/>
            </a:pPr>
            <a:r>
              <a:rPr lang="en-US" sz="1900" dirty="0" err="1"/>
              <a:t>Csökken</a:t>
            </a:r>
            <a:r>
              <a:rPr lang="en-US" sz="1900" dirty="0"/>
              <a:t> </a:t>
            </a:r>
            <a:r>
              <a:rPr lang="en-US" sz="1900" dirty="0" err="1"/>
              <a:t>az</a:t>
            </a:r>
            <a:r>
              <a:rPr lang="en-US" sz="1900" dirty="0"/>
              <a:t> </a:t>
            </a:r>
            <a:r>
              <a:rPr lang="en-US" sz="1900" dirty="0" err="1"/>
              <a:t>adminiszációs</a:t>
            </a:r>
            <a:r>
              <a:rPr lang="en-US" sz="1900" dirty="0"/>
              <a:t> </a:t>
            </a:r>
            <a:r>
              <a:rPr lang="en-US" sz="1900" dirty="0" err="1"/>
              <a:t>teher</a:t>
            </a:r>
            <a:r>
              <a:rPr lang="en-US" sz="1900" dirty="0"/>
              <a:t> </a:t>
            </a:r>
            <a:r>
              <a:rPr lang="en-US" sz="1900" dirty="0" err="1"/>
              <a:t>és</a:t>
            </a:r>
            <a:r>
              <a:rPr lang="en-US" sz="1900" dirty="0"/>
              <a:t> a </a:t>
            </a:r>
            <a:r>
              <a:rPr lang="en-US" sz="1900" dirty="0" err="1"/>
              <a:t>hibalehetőségek</a:t>
            </a:r>
            <a:r>
              <a:rPr lang="en-US" sz="1900" dirty="0"/>
              <a:t> </a:t>
            </a:r>
            <a:r>
              <a:rPr lang="en-US" sz="1900" dirty="0" err="1"/>
              <a:t>száma</a:t>
            </a:r>
            <a:r>
              <a:rPr lang="en-US" sz="1900" dirty="0"/>
              <a:t>.</a:t>
            </a:r>
          </a:p>
          <a:p>
            <a:pPr marL="342900" indent="-342900" algn="just">
              <a:lnSpc>
                <a:spcPct val="115000"/>
              </a:lnSpc>
              <a:buFont typeface="Arial" panose="05000000000000000000" pitchFamily="2" charset="2"/>
              <a:buChar char="•"/>
            </a:pPr>
            <a:r>
              <a:rPr lang="en-US" sz="1900" dirty="0" err="1"/>
              <a:t>Hatékonyabb</a:t>
            </a:r>
            <a:r>
              <a:rPr lang="en-US" sz="1900" dirty="0"/>
              <a:t> </a:t>
            </a:r>
            <a:r>
              <a:rPr lang="en-US" sz="1900" dirty="0" err="1"/>
              <a:t>készletkezelés</a:t>
            </a:r>
            <a:r>
              <a:rPr lang="en-US" sz="1900" dirty="0"/>
              <a:t> </a:t>
            </a:r>
            <a:r>
              <a:rPr lang="en-US" sz="1900" dirty="0" err="1"/>
              <a:t>és</a:t>
            </a:r>
            <a:r>
              <a:rPr lang="en-US" sz="1900" dirty="0"/>
              <a:t> </a:t>
            </a:r>
            <a:r>
              <a:rPr lang="en-US" sz="1900" dirty="0" err="1"/>
              <a:t>pontosabb</a:t>
            </a:r>
            <a:r>
              <a:rPr lang="en-US" sz="1900" dirty="0"/>
              <a:t> </a:t>
            </a:r>
            <a:r>
              <a:rPr lang="en-US" sz="1900" dirty="0" err="1"/>
              <a:t>nyilvántartás</a:t>
            </a:r>
            <a:r>
              <a:rPr lang="en-US" sz="1900" dirty="0"/>
              <a:t> </a:t>
            </a:r>
            <a:r>
              <a:rPr lang="en-US" sz="1900" dirty="0" err="1"/>
              <a:t>valósul</a:t>
            </a:r>
            <a:r>
              <a:rPr lang="en-US" sz="1900" dirty="0"/>
              <a:t> meg.</a:t>
            </a:r>
          </a:p>
          <a:p>
            <a:pPr marL="342900" indent="-342900">
              <a:lnSpc>
                <a:spcPct val="115000"/>
              </a:lnSpc>
              <a:buFont typeface="Arial" panose="05000000000000000000" pitchFamily="2" charset="2"/>
              <a:buChar char="•"/>
            </a:pPr>
            <a:endParaRPr lang="en-US" sz="19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D9000E-708C-464D-A86F-4ABE391B6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6337" y="0"/>
            <a:ext cx="720566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8" name="Kép helye 7">
            <a:extLst>
              <a:ext uri="{FF2B5EF4-FFF2-40B4-BE49-F238E27FC236}">
                <a16:creationId xmlns:a16="http://schemas.microsoft.com/office/drawing/2014/main" id="{5C73B8EA-8611-95BB-9BF2-25A2CF055C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65" r="27665"/>
          <a:stretch>
            <a:fillRect/>
          </a:stretch>
        </p:blipFill>
        <p:spPr>
          <a:xfrm>
            <a:off x="5541068" y="540033"/>
            <a:ext cx="6106076" cy="57752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95268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3469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010975-1AF5-0687-9D0A-9328F1FA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988" y="2759076"/>
            <a:ext cx="3884962" cy="3009899"/>
          </a:xfrm>
        </p:spPr>
        <p:txBody>
          <a:bodyPr vert="horz" lIns="0" tIns="0" rIns="0" bIns="0" rtlCol="0" anchorCtr="0">
            <a:normAutofit/>
          </a:bodyPr>
          <a:lstStyle/>
          <a:p>
            <a:pPr marL="0" indent="0">
              <a:buNone/>
            </a:pPr>
            <a:r>
              <a:rPr lang="hu-HU">
                <a:ea typeface="+mn-lt"/>
                <a:cs typeface="+mn-lt"/>
              </a:rPr>
              <a:t>„A jó leltár nem csak adatokat tárol rendszert, átláthatóságot és mosolyt is ad a mindennapokhoz.”</a:t>
            </a:r>
            <a:endParaRPr lang="hu-HU"/>
          </a:p>
        </p:txBody>
      </p:sp>
      <p:pic>
        <p:nvPicPr>
          <p:cNvPr id="4" name="Kép 3" descr="A képen kültéri, ég, épület, ablak látható">
            <a:extLst>
              <a:ext uri="{FF2B5EF4-FFF2-40B4-BE49-F238E27FC236}">
                <a16:creationId xmlns:a16="http://schemas.microsoft.com/office/drawing/2014/main" id="{472C0FCC-4799-7FA9-AB11-D04471474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91" r="10835"/>
          <a:stretch>
            <a:fillRect/>
          </a:stretch>
        </p:blipFill>
        <p:spPr>
          <a:xfrm>
            <a:off x="4979987" y="540033"/>
            <a:ext cx="6671025" cy="57752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2816493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139</Words>
  <Application>Microsoft Office PowerPoint</Application>
  <PresentationFormat>Szélesvásznú</PresentationFormat>
  <Paragraphs>26</Paragraphs>
  <Slides>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7" baseType="lpstr">
      <vt:lpstr>LeafVTI</vt:lpstr>
      <vt:lpstr>SQL WEB LELTÁR</vt:lpstr>
      <vt:lpstr>Témafelvetés</vt:lpstr>
      <vt:lpstr>Szoftver felépítése</vt:lpstr>
      <vt:lpstr>CéLkitűzés</vt:lpstr>
      <vt:lpstr>Következtetés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Tamás Hajdu</dc:creator>
  <cp:lastModifiedBy>Tamás Lajos Hajdú</cp:lastModifiedBy>
  <cp:revision>87</cp:revision>
  <dcterms:created xsi:type="dcterms:W3CDTF">2026-02-11T08:12:21Z</dcterms:created>
  <dcterms:modified xsi:type="dcterms:W3CDTF">2026-05-01T09:47:42Z</dcterms:modified>
</cp:coreProperties>
</file>